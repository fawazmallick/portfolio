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74320" y="20116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Recreation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Foot Placement Prediction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5943600"/>
            <a:ext cx="228600" cy="228600"/>
          </a:xfrm>
          <a:prstGeom prst="ellipse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5943600"/>
            <a:ext cx="228600" cy="228600"/>
          </a:xfrm>
          <a:prstGeom prst="ellipse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5943600"/>
            <a:ext cx="228600" cy="228600"/>
          </a:xfrm>
          <a:prstGeom prst="ellipse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5943600"/>
            <a:ext cx="228600" cy="2286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5943600"/>
            <a:ext cx="228600" cy="2286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097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2021 — Recreation &amp; Extension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18288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Fawaz Mallick  |  Course 16-745  |  May 2026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0640" y="2926080"/>
            <a:ext cx="6492240" cy="914400"/>
          </a:xfrm>
          <a:prstGeom prst="roundRect">
            <a:avLst>
              <a:gd name="adj" fmla="val 10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299923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49240" y="334670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foot placement pipeline from Chen et al. 2021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4023360"/>
            <a:ext cx="6492240" cy="914400"/>
          </a:xfrm>
          <a:prstGeom prst="roundRect">
            <a:avLst>
              <a:gd name="adj" fmla="val 10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409651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9240" y="444398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Cross-velocity &amp; cross-subject on Camargo treadmill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5120640"/>
            <a:ext cx="6492240" cy="914400"/>
          </a:xfrm>
          <a:prstGeom prst="roundRect">
            <a:avLst>
              <a:gd name="adj" fmla="val 10000"/>
            </a:avLst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519379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49240" y="55412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fusion as an additional measurement model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Predicting?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where the foot will land during the early swing phase — before heel strike — so a prosthetic or assistive device can proactively adjust rather than react.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Early Prediction?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control after heel strike is too late for smooth gait. Predicting during swing gives the controller ~300–500 ms of lead time.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690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Optimal Control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placement prediction feeds into a cost function that minimizes deviation from desired gait. Predicted (x̂, ŷ) becomes the reference state for the controller.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82296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91440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995160" y="914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Heel Strike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1280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begins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938528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029968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95160" y="2029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 Off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2395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begins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prediction window opens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054096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3145536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95160" y="31455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Swing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35112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fA–fF extracted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Bayesian update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169664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4261104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95160" y="42611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Swing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5160" y="46268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feed to controller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5285232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5376672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95160" y="53766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Heel Strike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5742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error computed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— Chen et al. 2021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Bayesian update over a 2D spatial grid. Six swing-phase features update a probability distribution over candidate foot placements.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6916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1 — Prior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203911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4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P₀(C=(xᵢ,yᵢ)) = α₀·(1 + β·Gaussian(cell, (xₕ,yₕ), σ))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0352" y="249631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toward the average of the previous two strides. We use a uniform prior (no history assumed).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320040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32918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2 — Normalization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363931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4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α₀ = 1 / Σ P₀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" y="409651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so probabilities sum to 1 across all ~4000 grid cells.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480060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48920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3 — Bayesian Update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523951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4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Pₙ = αₙ · P(fₙ,ₘ | C=(xᵢ,yᵢ)) · Pₙ₋₁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0352" y="569671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current posterior by new feature likelihood, renormalize. Repeated 6 times (one per feature).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60020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6916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4 — Likelihood (1D Gaussian)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203911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4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P(fⱼ,ₘ | C=(xᵢ,yᵢ)) = 1/√(2πγⱼ) · exp(-(fⱼ,ₘ - fⱼ,ₑ(xᵢ,yᵢ))² / 2γⱼ²)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91072" y="249631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γⱼ = RMSE of the quadratic fit. fⱼ,ₑ = expected feature value at grid cell (xᵢ,yᵢ).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320040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32918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5 — Prediction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91072" y="363931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4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(x̂, ŷ) = Σ (xᵢ,yᵢ) · P_N(C=(xᵢ,yᵢ) | f₁,ₘ...f₆,ₘ)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91072" y="409651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center of mass of the final posterior distribution.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 Extraction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Camargo GTech Treadmill Dataset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subjects: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23160" y="1572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AB06 – AB13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trials each: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231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– 0.80 m/s (0.05 m/s increments)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Hz: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23160" y="2633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capture markers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638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11,745 steps: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23160" y="3163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extracted (train + test)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941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frame: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36941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every toe-off from last 2 heel-strikes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315968"/>
            <a:ext cx="5669280" cy="822960"/>
          </a:xfrm>
          <a:prstGeom prst="roundRect">
            <a:avLst>
              <a:gd name="adj" fmla="val 11111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0740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Treadmill Compensation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velocity added back to AP displacement during swing: l_ap += belt_speed × t. Walking direction fixed via velocity-compensated heel-strike vectors.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0515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Swing-Phase Features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0" y="1572768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6824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32320" y="17373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extremum of AP velocity (vₓ)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2340864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45059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250545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positive peak of ML velocity (vᵧ)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3108960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2186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32320" y="327355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positive peak of vertical velocity (v_z)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3877056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9867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32320" y="404164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heel clearance height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4645152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47548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32320" y="480974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displacement at peak height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0" y="5413248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552297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132320" y="55778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displacement at peak height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Setup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two-test protocol from Chen et al. 2021 Table II — cross-velocity and cross-subject.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5669280" cy="4754880"/>
          </a:xfrm>
          <a:prstGeom prst="roundRect">
            <a:avLst>
              <a:gd name="adj" fmla="val 1923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642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— Cross-Velocity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2128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subjects: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22128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AB06 – AB12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trials: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2834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01, 04, 07  (~0.50, 0.65, 0.80 m/s)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4564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steps: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34564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10,425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40782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subjects: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40782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AB06 – AB12  (same)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7000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trials: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47000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02, 03, 05, 06  (unseen speeds)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5321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steps: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5321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5,638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508760"/>
            <a:ext cx="5669280" cy="4754880"/>
          </a:xfrm>
          <a:prstGeom prst="roundRect">
            <a:avLst>
              <a:gd name="adj" fmla="val 192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6642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— Cross-Subject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22128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subjects: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0" y="22128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AB06 – AB12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2834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trials: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0" y="2834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01, 04, 07  (same as Test 1)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34564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steps: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0" y="34564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10,425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40782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subject: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0" y="40782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AB13  (fully held out)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47000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trials: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0" y="47000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trials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5321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steps: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0" y="5321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640080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AP 0 – 1.4 m × ML ±1.0 m at 2 cm resolution (~4000 cells)  ·  Prior: Gaussian biased toward mean of previous 2 strides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tests use the same trained model. Errors reported in cm.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— Cross-Velocity  (n = 5,638)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659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8.21 cm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633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x (stride length)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9202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9659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2.81 cm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154680" y="2633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y (stride width)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19202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9659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8.68 cm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852160" y="2633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distance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— Cross-Subject  (n = 1,320)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947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8.81 cm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7200" y="4462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x (AB13)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37490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37947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4.34 cm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154680" y="4462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y (AB13)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37490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37947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9.82 cm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852160" y="4462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distance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95360" y="192024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19659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 cm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8595360" y="2633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E95 — 95th percentile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error (AB13)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95360" y="3182112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322783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8.59 cm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8595360" y="38953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distance error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(AB13)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047488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138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y RMSE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546811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subjects walked with intentionally irregular gaits (cross-step, split-step, jog). The Camargo dataset is normal steady-state treadmill walking with minimal lateral variability — so y prediction is naturally easier. x RMSE (8.21 cm) is a genuine result and improves on the paper's 10.32 cm.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to Chen et al. 2021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1920240" cy="62179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143000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31720" y="1143000"/>
            <a:ext cx="2286000" cy="62179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04872" y="114300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Test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(cross-vel)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2286000" cy="62179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114300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Test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(cross-vel)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95160" y="1143000"/>
            <a:ext cx="2286000" cy="62179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68312" y="114300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Test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(cross-sub)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26880" y="1143000"/>
            <a:ext cx="2286000" cy="621792"/>
          </a:xfrm>
          <a:prstGeom prst="rect">
            <a:avLst/>
          </a:prstGeom>
          <a:solidFill>
            <a:srgbClr val="1D3461"/>
          </a:solidFill>
          <a:ln w="12700">
            <a:solidFill>
              <a:srgbClr val="1D34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00032" y="114300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Test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(cross-sub)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764792"/>
            <a:ext cx="1920240" cy="566928"/>
          </a:xfrm>
          <a:prstGeom prst="rect">
            <a:avLst/>
          </a:prstGeom>
          <a:solidFill>
            <a:srgbClr val="F1F5F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76479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31720" y="1764792"/>
            <a:ext cx="2286000" cy="566928"/>
          </a:xfrm>
          <a:prstGeom prst="rect">
            <a:avLst/>
          </a:prstGeom>
          <a:solidFill>
            <a:srgbClr val="F1F5F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04872" y="176479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10.32 cm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764792"/>
            <a:ext cx="2286000" cy="566928"/>
          </a:xfrm>
          <a:prstGeom prst="rect">
            <a:avLst/>
          </a:prstGeom>
          <a:solidFill>
            <a:srgbClr val="EBF5E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76479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8.21 cm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95160" y="1764792"/>
            <a:ext cx="2286000" cy="566928"/>
          </a:xfrm>
          <a:prstGeom prst="rect">
            <a:avLst/>
          </a:prstGeom>
          <a:solidFill>
            <a:srgbClr val="F1F5F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68312" y="176479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13.00 cm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26880" y="1764792"/>
            <a:ext cx="2286000" cy="566928"/>
          </a:xfrm>
          <a:prstGeom prst="rect">
            <a:avLst/>
          </a:prstGeom>
          <a:solidFill>
            <a:srgbClr val="EBF5E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00032" y="176479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8.81 cm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331720"/>
            <a:ext cx="192024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33172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331720" y="2331720"/>
            <a:ext cx="228600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04872" y="233172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8.85 cm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2331720"/>
            <a:ext cx="2286000" cy="566928"/>
          </a:xfrm>
          <a:prstGeom prst="rect">
            <a:avLst/>
          </a:prstGeom>
          <a:solidFill>
            <a:srgbClr val="D4EDD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33172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2.81 cm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95160" y="2331720"/>
            <a:ext cx="228600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68312" y="233172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12.39 cm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326880" y="2331720"/>
            <a:ext cx="2286000" cy="566928"/>
          </a:xfrm>
          <a:prstGeom prst="rect">
            <a:avLst/>
          </a:prstGeom>
          <a:solidFill>
            <a:srgbClr val="D4EDD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00032" y="233172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4.34 cm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2898648"/>
            <a:ext cx="1920240" cy="566928"/>
          </a:xfrm>
          <a:prstGeom prst="rect">
            <a:avLst/>
          </a:prstGeom>
          <a:solidFill>
            <a:srgbClr val="F1F5F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289864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steps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331720" y="2898648"/>
            <a:ext cx="2286000" cy="566928"/>
          </a:xfrm>
          <a:prstGeom prst="rect">
            <a:avLst/>
          </a:prstGeom>
          <a:solidFill>
            <a:srgbClr val="F1F5F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04872" y="289864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~4–5k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2898648"/>
            <a:ext cx="2286000" cy="566928"/>
          </a:xfrm>
          <a:prstGeom prst="rect">
            <a:avLst/>
          </a:prstGeom>
          <a:solidFill>
            <a:srgbClr val="EBF5E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289864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10,425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95160" y="2898648"/>
            <a:ext cx="2286000" cy="566928"/>
          </a:xfrm>
          <a:prstGeom prst="rect">
            <a:avLst/>
          </a:prstGeom>
          <a:solidFill>
            <a:srgbClr val="F1F5F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68312" y="289864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~4–5k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326880" y="2898648"/>
            <a:ext cx="2286000" cy="566928"/>
          </a:xfrm>
          <a:prstGeom prst="rect">
            <a:avLst/>
          </a:prstGeom>
          <a:solidFill>
            <a:srgbClr val="EBF5E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00032" y="289864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10,425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465576"/>
            <a:ext cx="192024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3465576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type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331720" y="3465576"/>
            <a:ext cx="228600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04872" y="3465576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663440" y="3465576"/>
            <a:ext cx="2286000" cy="566928"/>
          </a:xfrm>
          <a:prstGeom prst="rect">
            <a:avLst/>
          </a:prstGeom>
          <a:solidFill>
            <a:srgbClr val="D4EDD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36592" y="3465576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TM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995160" y="3465576"/>
            <a:ext cx="228600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68312" y="3465576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326880" y="3465576"/>
            <a:ext cx="2286000" cy="566928"/>
          </a:xfrm>
          <a:prstGeom prst="rect">
            <a:avLst/>
          </a:prstGeom>
          <a:solidFill>
            <a:srgbClr val="D4EDD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00032" y="3465576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TM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65760" y="4032504"/>
            <a:ext cx="1920240" cy="566928"/>
          </a:xfrm>
          <a:prstGeom prst="rect">
            <a:avLst/>
          </a:prstGeom>
          <a:solidFill>
            <a:srgbClr val="F1F5F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403250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331720" y="4032504"/>
            <a:ext cx="2286000" cy="566928"/>
          </a:xfrm>
          <a:prstGeom prst="rect">
            <a:avLst/>
          </a:prstGeom>
          <a:solidFill>
            <a:srgbClr val="F1F5F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04872" y="403250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663440" y="4032504"/>
            <a:ext cx="2286000" cy="566928"/>
          </a:xfrm>
          <a:prstGeom prst="rect">
            <a:avLst/>
          </a:prstGeom>
          <a:solidFill>
            <a:srgbClr val="EBF5E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36592" y="403250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95160" y="4032504"/>
            <a:ext cx="2286000" cy="566928"/>
          </a:xfrm>
          <a:prstGeom prst="rect">
            <a:avLst/>
          </a:prstGeom>
          <a:solidFill>
            <a:srgbClr val="F1F5F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68312" y="403250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326880" y="4032504"/>
            <a:ext cx="2286000" cy="566928"/>
          </a:xfrm>
          <a:prstGeom prst="rect">
            <a:avLst/>
          </a:prstGeom>
          <a:solidFill>
            <a:srgbClr val="EBF5E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00032" y="403250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65760" y="466344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65760" y="512064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52303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training data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48640" y="5577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10,425 vs ~4–5k steps → better quadratic fits → lower γ → sharper likelihoods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206240" y="512064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89120" y="52303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y task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389120" y="5577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walking has low lateral variability; the paper's irregular gaits stressed y prediction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046720" y="512064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29600" y="52303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 vs IMU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229600" y="5577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ground-truth marker positions, avoiding IMU drift — cleaner features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— Kalman Filter Fusion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44752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Kalman filter to track foot position/velocity during swing and fuse its heel-strike prediction with the Bayesian posterior as an additional measurement model (from notes, page 11):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04288"/>
            <a:ext cx="5486400" cy="594360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77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34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P(c | f₁..f₆, z) ∝ P(z|c) · P_Bayesian(c)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358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State   X = [x, y, vₓ, vᵧ]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model: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3474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velocity between samples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noise Q: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4023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σ_accel² from XSENS MTi-1s spec: 0.002 m/s²/√Hz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4572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from synthetic noisy markers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120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5120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2D Gaussian × Bayesian posterior → renormalize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0515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0" y="1536192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6276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only (Test 1)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197510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x = 8.21 cm   RMSE y = 2.81 cm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2907792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9992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Kalman fusion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34670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x = 21.38 cm   RMSE y = 2.26 cm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44622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48920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Kalman initialized with zero velocity at toe-off — wrong on treadmill (foot already has forward velocity from belt)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536752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Systematic bias: mean error x = −11.1 cm — Kalman pulls predictions shorter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584301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matching achieves 100% (not a data issue)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631850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Root cause: initial state + treadmill kinematics are incompatible with constant-velocity motion model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3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days remaining — three concrete directions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749040" cy="4846320"/>
          </a:xfrm>
          <a:prstGeom prst="roundRect">
            <a:avLst>
              <a:gd name="adj" fmla="val 2927"/>
            </a:avLst>
          </a:prstGeom>
          <a:solidFill>
            <a:srgbClr val="2B4C7E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Kalman Extension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Initialize velocity from first 2 swing samples (not zero)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Switch to a more appropriate motion model for treadmill kinematics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Compare Bayesian-only vs Kalman-fused RMSE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737360"/>
            <a:ext cx="3749040" cy="4846320"/>
          </a:xfrm>
          <a:prstGeom prst="roundRect">
            <a:avLst>
              <a:gd name="adj" fmla="val 2927"/>
            </a:avLst>
          </a:prstGeom>
          <a:solidFill>
            <a:srgbClr val="2B4C7E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2514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Gait Validation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Source or generate perturbed gait data (cross-steps, split-steps)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17720" y="397764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Test whether y RMSE rises to match the paper — confirms the method is sound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17720" y="484632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Documents dataset limitation honestly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0" y="1737360"/>
            <a:ext cx="3749040" cy="4846320"/>
          </a:xfrm>
          <a:prstGeom prst="roundRect">
            <a:avLst>
              <a:gd name="adj" fmla="val 2927"/>
            </a:avLst>
          </a:prstGeom>
          <a:solidFill>
            <a:srgbClr val="2B4C7E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595360" y="2514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Control Connection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0" y="310896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Formalize how predicted (x̂, ŷ) feeds into the cost function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595360" y="397764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Show how prediction uncertainty (Σpp) propagates into control effort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95360" y="484632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Frame as stochastic MPC: min E[l(xₖ, uₖ)] over predicted foot placements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Fawaz Mallick  ·  Course 16-745  · 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2026-05-01T05:19:05Z</dcterms:created>
  <dcterms:modified xsi:type="dcterms:W3CDTF">2026-05-01T05:19:05Z</dcterms:modified>
</cp:coreProperties>
</file>